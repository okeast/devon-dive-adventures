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3" r:id="rId9"/>
    <p:sldId id="262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F2FEFE-D2E8-36FE-9385-9E95D1A575F3}" v="309" dt="2025-04-26T20:45:15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11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9B0384-7053-4F94-B359-AD7D22C33BE8}" type="datetimeFigureOut">
              <a:rPr lang="en-GB" smtClean="0"/>
              <a:t>28/04/2025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6AE9A3-3AD9-4B81-A12B-4424503654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0724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6AE9A3-3AD9-4B81-A12B-4424503654F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4233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27/04/2025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Devon Dive Adventures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7E613-4389-91CF-4FEC-C4CAF78F3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Requirements</a:t>
            </a:r>
            <a:endParaRPr lang="en-US" sz="280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383917-235D-48E0-73CB-98F1B7E78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GB" sz="3600" u="sng" dirty="0">
                <a:solidFill>
                  <a:schemeClr val="bg1"/>
                </a:solidFill>
              </a:rPr>
              <a:t>The brief explained that the website should:</a:t>
            </a:r>
            <a:r>
              <a:rPr lang="en-GB" u="sng" dirty="0">
                <a:solidFill>
                  <a:schemeClr val="bg1"/>
                </a:solidFill>
              </a:rPr>
              <a:t> </a:t>
            </a:r>
            <a:endParaRPr lang="en-US" u="sng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52086B-7C5C-641B-7868-7F1D16FE8108}"/>
              </a:ext>
            </a:extLst>
          </p:cNvPr>
          <p:cNvSpPr txBox="1"/>
          <p:nvPr/>
        </p:nvSpPr>
        <p:spPr>
          <a:xfrm>
            <a:off x="78493" y="3270267"/>
            <a:ext cx="6021236" cy="14248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b="1" u="sng" dirty="0">
                <a:solidFill>
                  <a:schemeClr val="bg1"/>
                </a:solidFill>
              </a:rPr>
              <a:t>Inform the potential customers of Devon Dive Adventures activities available</a:t>
            </a:r>
            <a:endParaRPr lang="en-US" sz="3200" b="1" u="sng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FC0E4A-5DF8-ADDD-D38B-E727175CFC11}"/>
              </a:ext>
            </a:extLst>
          </p:cNvPr>
          <p:cNvSpPr txBox="1"/>
          <p:nvPr/>
        </p:nvSpPr>
        <p:spPr>
          <a:xfrm>
            <a:off x="6104626" y="2999116"/>
            <a:ext cx="5661803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76000"/>
                  </a:schemeClr>
                </a:solidFill>
                <a:cs typeface="Segoe UI"/>
              </a:rPr>
              <a:t>One way of doing this is by including simple details of the activities to hook their interest on the home page</a:t>
            </a:r>
          </a:p>
        </p:txBody>
      </p:sp>
    </p:spTree>
    <p:extLst>
      <p:ext uri="{BB962C8B-B14F-4D97-AF65-F5344CB8AC3E}">
        <p14:creationId xmlns:p14="http://schemas.microsoft.com/office/powerpoint/2010/main" val="275233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EECDF-CE99-AC21-A89A-0CBFF2B29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CEFF9-B9D9-E857-370D-C949A5074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Requirements</a:t>
            </a:r>
            <a:endParaRPr lang="en-US" sz="280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209AF-90FC-98E7-4AF9-39CF7B01C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GB" sz="3600" u="sng" dirty="0">
                <a:solidFill>
                  <a:schemeClr val="bg1"/>
                </a:solidFill>
              </a:rPr>
              <a:t>The brief explained that the website should:</a:t>
            </a:r>
            <a:r>
              <a:rPr lang="en-GB" u="sng" dirty="0">
                <a:solidFill>
                  <a:schemeClr val="bg1"/>
                </a:solidFill>
              </a:rPr>
              <a:t> </a:t>
            </a:r>
            <a:endParaRPr lang="en-US" u="sng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B0620D-C4F6-7ECA-B23B-EB78F28ED6F9}"/>
              </a:ext>
            </a:extLst>
          </p:cNvPr>
          <p:cNvSpPr txBox="1"/>
          <p:nvPr/>
        </p:nvSpPr>
        <p:spPr>
          <a:xfrm>
            <a:off x="78493" y="3270267"/>
            <a:ext cx="6021236" cy="12582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2800" dirty="0">
                <a:solidFill>
                  <a:schemeClr val="bg1">
                    <a:lumMod val="76000"/>
                  </a:schemeClr>
                </a:solidFill>
              </a:rPr>
              <a:t>inform the potential customers of Devon Dive Adventures activities available</a:t>
            </a:r>
            <a:endParaRPr lang="en-US" dirty="0">
              <a:solidFill>
                <a:schemeClr val="bg1">
                  <a:lumMod val="76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668AC1-F876-B589-200B-D25D80FAA6DD}"/>
              </a:ext>
            </a:extLst>
          </p:cNvPr>
          <p:cNvSpPr txBox="1"/>
          <p:nvPr/>
        </p:nvSpPr>
        <p:spPr>
          <a:xfrm>
            <a:off x="6104626" y="2999116"/>
            <a:ext cx="5661803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 u="sng" dirty="0">
                <a:solidFill>
                  <a:srgbClr val="FFFFFF"/>
                </a:solidFill>
                <a:cs typeface="Segoe UI"/>
              </a:rPr>
              <a:t>One way of doing this is by including simple details of the activities to hook their interest on the home page</a:t>
            </a:r>
          </a:p>
        </p:txBody>
      </p:sp>
    </p:spTree>
    <p:extLst>
      <p:ext uri="{BB962C8B-B14F-4D97-AF65-F5344CB8AC3E}">
        <p14:creationId xmlns:p14="http://schemas.microsoft.com/office/powerpoint/2010/main" val="505701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1AC4F-7910-7B15-9B7B-786CA5036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58031-92E6-B795-491F-560966A8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Requirements</a:t>
            </a:r>
            <a:endParaRPr lang="en-US" sz="280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552D4-842C-8526-24A9-AC5B38DA6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GB" sz="3600" u="sng" dirty="0">
                <a:solidFill>
                  <a:schemeClr val="bg1"/>
                </a:solidFill>
              </a:rPr>
              <a:t>The brief explained that the website should:</a:t>
            </a:r>
            <a:r>
              <a:rPr lang="en-GB" u="sng" dirty="0">
                <a:solidFill>
                  <a:schemeClr val="bg1"/>
                </a:solidFill>
              </a:rPr>
              <a:t> </a:t>
            </a:r>
            <a:endParaRPr lang="en-US" u="sng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5C7AD1-EEB9-B49C-CC55-83BBF9CBF1E3}"/>
              </a:ext>
            </a:extLst>
          </p:cNvPr>
          <p:cNvSpPr txBox="1"/>
          <p:nvPr/>
        </p:nvSpPr>
        <p:spPr>
          <a:xfrm>
            <a:off x="78493" y="3270267"/>
            <a:ext cx="6021236" cy="12582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2800" dirty="0">
                <a:solidFill>
                  <a:schemeClr val="bg1"/>
                </a:solidFill>
              </a:rPr>
              <a:t>inform the potential customers of Devon Dive Adventures activities </a:t>
            </a:r>
            <a:r>
              <a:rPr lang="en-GB" sz="2800">
                <a:solidFill>
                  <a:schemeClr val="bg1"/>
                </a:solidFill>
              </a:rPr>
              <a:t>available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C19867-8536-F92D-FC0D-43F8B28F9068}"/>
              </a:ext>
            </a:extLst>
          </p:cNvPr>
          <p:cNvSpPr txBox="1"/>
          <p:nvPr/>
        </p:nvSpPr>
        <p:spPr>
          <a:xfrm>
            <a:off x="6104626" y="2999116"/>
            <a:ext cx="5661803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dirty="0">
                <a:solidFill>
                  <a:srgbClr val="FFFFFF"/>
                </a:solidFill>
                <a:cs typeface="Segoe UI"/>
              </a:rPr>
              <a:t>One way of doing this is by including simple details of the activities to hook their interest on the home page</a:t>
            </a:r>
          </a:p>
        </p:txBody>
      </p:sp>
    </p:spTree>
    <p:extLst>
      <p:ext uri="{BB962C8B-B14F-4D97-AF65-F5344CB8AC3E}">
        <p14:creationId xmlns:p14="http://schemas.microsoft.com/office/powerpoint/2010/main" val="3152393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29748-E582-FC43-0FD9-713E261B6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2C14D-3DFE-90D6-0831-A479B2FB9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Accessibility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8F8EA-10A0-0300-086F-0FD781D2F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u="sng" dirty="0">
                <a:solidFill>
                  <a:schemeClr val="bg1"/>
                </a:solidFill>
              </a:rPr>
              <a:t>Why it’s important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B61ADD-3CE3-ADE8-8B97-D4E3090C1C29}"/>
              </a:ext>
            </a:extLst>
          </p:cNvPr>
          <p:cNvSpPr txBox="1"/>
          <p:nvPr/>
        </p:nvSpPr>
        <p:spPr>
          <a:xfrm>
            <a:off x="78493" y="3270267"/>
            <a:ext cx="6021236" cy="18680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b="1" u="sng" dirty="0">
                <a:solidFill>
                  <a:schemeClr val="bg1"/>
                </a:solidFill>
              </a:rPr>
              <a:t>Inclusivity allows you to reach a wider audience of customers you may not have been able to reach before</a:t>
            </a:r>
            <a:endParaRPr lang="en-US" sz="3200" b="1" u="sng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F6E62-B506-B00E-3686-2BEDD9071E4E}"/>
              </a:ext>
            </a:extLst>
          </p:cNvPr>
          <p:cNvSpPr txBox="1"/>
          <p:nvPr/>
        </p:nvSpPr>
        <p:spPr>
          <a:xfrm>
            <a:off x="6104626" y="2999116"/>
            <a:ext cx="5661803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76000"/>
                  </a:schemeClr>
                </a:solidFill>
                <a:cs typeface="Segoe UI"/>
              </a:rPr>
              <a:t>Accessibility gives you biases within search engines due to improved Search engine optimisation (Ledford, 2020).</a:t>
            </a:r>
          </a:p>
        </p:txBody>
      </p:sp>
    </p:spTree>
    <p:extLst>
      <p:ext uri="{BB962C8B-B14F-4D97-AF65-F5344CB8AC3E}">
        <p14:creationId xmlns:p14="http://schemas.microsoft.com/office/powerpoint/2010/main" val="120361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406CA-B0EC-76A2-FEAD-FEBE8ED39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2118B-0B57-4DD2-BEA5-BCAD04520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Accessibility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D3B64-7FE5-0C5A-F9A9-45A78B92A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u="sng" dirty="0">
                <a:solidFill>
                  <a:schemeClr val="bg1"/>
                </a:solidFill>
              </a:rPr>
              <a:t>Why it’s important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FD4CE6-2827-8FB1-C685-42F52A69406F}"/>
              </a:ext>
            </a:extLst>
          </p:cNvPr>
          <p:cNvSpPr txBox="1"/>
          <p:nvPr/>
        </p:nvSpPr>
        <p:spPr>
          <a:xfrm>
            <a:off x="103800" y="3135557"/>
            <a:ext cx="6021236" cy="18680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dirty="0">
                <a:solidFill>
                  <a:schemeClr val="bg1">
                    <a:lumMod val="75000"/>
                  </a:schemeClr>
                </a:solidFill>
              </a:rPr>
              <a:t>Inclusivity allows you to reach a wider audience of customers you may not have been able to reach before.</a:t>
            </a:r>
            <a:endParaRPr lang="en-US" sz="3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4AC2D-E5E3-3FE5-F8F5-A351E771BDB7}"/>
              </a:ext>
            </a:extLst>
          </p:cNvPr>
          <p:cNvSpPr txBox="1"/>
          <p:nvPr/>
        </p:nvSpPr>
        <p:spPr>
          <a:xfrm>
            <a:off x="6125036" y="3084841"/>
            <a:ext cx="5661803" cy="18774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b="1" u="sng" dirty="0">
                <a:solidFill>
                  <a:schemeClr val="bg1"/>
                </a:solidFill>
                <a:cs typeface="Segoe UI"/>
              </a:rPr>
              <a:t>Accessibility gives you biases within </a:t>
            </a:r>
            <a:r>
              <a:rPr lang="en-GB" sz="3200" b="1" u="sng" dirty="0">
                <a:solidFill>
                  <a:schemeClr val="bg1"/>
                </a:solidFill>
                <a:cs typeface="Segoe UI"/>
              </a:rPr>
              <a:t>search</a:t>
            </a:r>
            <a:r>
              <a:rPr lang="en-GB" sz="2800" b="1" u="sng" dirty="0">
                <a:solidFill>
                  <a:schemeClr val="bg1"/>
                </a:solidFill>
                <a:cs typeface="Segoe UI"/>
              </a:rPr>
              <a:t> engines due to Search engine optimisation (Ledford, 2020).</a:t>
            </a:r>
          </a:p>
        </p:txBody>
      </p:sp>
    </p:spTree>
    <p:extLst>
      <p:ext uri="{BB962C8B-B14F-4D97-AF65-F5344CB8AC3E}">
        <p14:creationId xmlns:p14="http://schemas.microsoft.com/office/powerpoint/2010/main" val="772271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3C457-A7AA-A0E7-4ED5-D3CDA1E6C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EC88C-8156-E2F1-A049-B6DD21E06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Accessibility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39316-46C1-EFC7-2E25-3B99EE3E2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u="sng" dirty="0">
                <a:solidFill>
                  <a:schemeClr val="bg1"/>
                </a:solidFill>
              </a:rPr>
              <a:t>How to be accessible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09CB2F-8D15-251C-C391-10974463CE37}"/>
              </a:ext>
            </a:extLst>
          </p:cNvPr>
          <p:cNvSpPr txBox="1"/>
          <p:nvPr/>
        </p:nvSpPr>
        <p:spPr>
          <a:xfrm>
            <a:off x="78493" y="3270267"/>
            <a:ext cx="6021236" cy="33258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b="1" u="sng" dirty="0">
                <a:solidFill>
                  <a:schemeClr val="bg1"/>
                </a:solidFill>
              </a:rPr>
              <a:t>Following the Web Content Accessibility Guidelines. This is a set of internationally accepted guidelines for web development </a:t>
            </a:r>
          </a:p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b="1" u="sng" dirty="0">
                <a:solidFill>
                  <a:schemeClr val="bg1"/>
                </a:solidFill>
              </a:rPr>
              <a:t>(World wide Web Consortium, 2018)</a:t>
            </a:r>
            <a:endParaRPr lang="en-US" sz="3200" b="1" u="sng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B6BD22-0D66-117F-F3F5-331298964F67}"/>
              </a:ext>
            </a:extLst>
          </p:cNvPr>
          <p:cNvSpPr txBox="1"/>
          <p:nvPr/>
        </p:nvSpPr>
        <p:spPr>
          <a:xfrm>
            <a:off x="6104626" y="2999116"/>
            <a:ext cx="5661803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65000"/>
                  </a:schemeClr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POUR: perceivable, operable, understandable and robust</a:t>
            </a:r>
            <a:br>
              <a:rPr lang="en-GB" sz="2800" dirty="0">
                <a:solidFill>
                  <a:schemeClr val="bg1">
                    <a:lumMod val="65000"/>
                  </a:schemeClr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</a:br>
            <a:br>
              <a:rPr lang="en-GB" sz="2800" dirty="0">
                <a:solidFill>
                  <a:schemeClr val="bg1">
                    <a:lumMod val="65000"/>
                  </a:schemeClr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GB" sz="2800" dirty="0">
                <a:solidFill>
                  <a:schemeClr val="bg1">
                    <a:lumMod val="65000"/>
                  </a:schemeClr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ARIA: Accessible rich Internet Applications</a:t>
            </a:r>
          </a:p>
          <a:p>
            <a:pPr algn="ctr"/>
            <a:r>
              <a:rPr lang="en-GB" sz="2800" dirty="0">
                <a:solidFill>
                  <a:schemeClr val="bg1">
                    <a:lumMod val="65000"/>
                  </a:schemeClr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GB" sz="2800" dirty="0">
              <a:solidFill>
                <a:schemeClr val="bg1">
                  <a:lumMod val="65000"/>
                </a:schemeClr>
              </a:solidFill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014033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7B2F9D-C0E8-C10A-98D7-DECA1842B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DBE4E-11DF-0AE6-A8E1-750283FFF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Accessibility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D06A-AA13-4474-576E-2DC9FA51CE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u="sng" dirty="0">
                <a:solidFill>
                  <a:schemeClr val="bg1"/>
                </a:solidFill>
              </a:rPr>
              <a:t>How to be accessible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A4955-391E-193E-3601-23201BC24F12}"/>
              </a:ext>
            </a:extLst>
          </p:cNvPr>
          <p:cNvSpPr txBox="1"/>
          <p:nvPr/>
        </p:nvSpPr>
        <p:spPr>
          <a:xfrm>
            <a:off x="103800" y="3135557"/>
            <a:ext cx="6021236" cy="28826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dirty="0">
                <a:solidFill>
                  <a:schemeClr val="bg1">
                    <a:lumMod val="75000"/>
                  </a:schemeClr>
                </a:solidFill>
              </a:rPr>
              <a:t>Following the Web Content Accessibility Guidelines. This is a set of internationally accepted guidelines for web development </a:t>
            </a:r>
          </a:p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dirty="0">
                <a:solidFill>
                  <a:schemeClr val="bg1">
                    <a:lumMod val="75000"/>
                  </a:schemeClr>
                </a:solidFill>
              </a:rPr>
              <a:t>(World wide Web Consortium, 2018)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0F2-9141-9B03-0675-744B31667F88}"/>
              </a:ext>
            </a:extLst>
          </p:cNvPr>
          <p:cNvSpPr txBox="1"/>
          <p:nvPr/>
        </p:nvSpPr>
        <p:spPr>
          <a:xfrm>
            <a:off x="6125036" y="3084841"/>
            <a:ext cx="5661803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b="1" u="sng" dirty="0">
                <a:solidFill>
                  <a:schemeClr val="bg1"/>
                </a:solidFill>
                <a:cs typeface="Segoe UI"/>
              </a:rPr>
              <a:t>POUR: perceivable, operable, understandable and robust</a:t>
            </a:r>
            <a:br>
              <a:rPr lang="en-GB" sz="2800" b="1" u="sng" dirty="0">
                <a:solidFill>
                  <a:schemeClr val="bg1"/>
                </a:solidFill>
                <a:cs typeface="Segoe UI"/>
              </a:rPr>
            </a:br>
            <a:br>
              <a:rPr lang="en-GB" sz="2800" b="1" u="sng" dirty="0">
                <a:solidFill>
                  <a:schemeClr val="bg1"/>
                </a:solidFill>
                <a:cs typeface="Segoe UI"/>
              </a:rPr>
            </a:br>
            <a:r>
              <a:rPr lang="en-GB" sz="2800" b="1" u="sng" dirty="0">
                <a:solidFill>
                  <a:schemeClr val="bg1"/>
                </a:solidFill>
                <a:cs typeface="Segoe UI"/>
              </a:rPr>
              <a:t>ARIA: Accessible rich Internet Applications</a:t>
            </a:r>
          </a:p>
        </p:txBody>
      </p:sp>
    </p:spTree>
    <p:extLst>
      <p:ext uri="{BB962C8B-B14F-4D97-AF65-F5344CB8AC3E}">
        <p14:creationId xmlns:p14="http://schemas.microsoft.com/office/powerpoint/2010/main" val="1601793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16A14-303B-0848-86E8-9C9DAC0EC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8A211-4AB0-D9D8-859B-3E582A6D0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Website Launch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CE0F2-E360-9B9E-25D0-2D4B9ED8C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GB" u="sng" dirty="0">
                <a:solidFill>
                  <a:schemeClr val="bg1"/>
                </a:solidFill>
              </a:rPr>
              <a:t>Pre-Launch Process </a:t>
            </a:r>
            <a:endParaRPr lang="en-US" u="sng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B04E-6487-5FA8-4244-2D62EB64379D}"/>
              </a:ext>
            </a:extLst>
          </p:cNvPr>
          <p:cNvSpPr txBox="1"/>
          <p:nvPr/>
        </p:nvSpPr>
        <p:spPr>
          <a:xfrm>
            <a:off x="83390" y="2852070"/>
            <a:ext cx="6021236" cy="27544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b="1" u="sng" dirty="0">
                <a:solidFill>
                  <a:schemeClr val="bg1"/>
                </a:solidFill>
              </a:rPr>
              <a:t>A final round of testing, this includes: Functionality testing, compatibility testing, responsiveness testing, accessibility reviews and testing. </a:t>
            </a:r>
            <a:endParaRPr lang="en-US" sz="3200" b="1" u="sng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2445EC-A1D9-AD21-CB65-5A876E48A6E4}"/>
              </a:ext>
            </a:extLst>
          </p:cNvPr>
          <p:cNvSpPr txBox="1"/>
          <p:nvPr/>
        </p:nvSpPr>
        <p:spPr>
          <a:xfrm>
            <a:off x="6104626" y="2999116"/>
            <a:ext cx="5661803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>
                <a:solidFill>
                  <a:schemeClr val="bg1">
                    <a:lumMod val="76000"/>
                  </a:schemeClr>
                </a:solidFill>
                <a:cs typeface="Segoe UI"/>
              </a:rPr>
              <a:t>A complete content review should be done on the website to verify there are no spelling mistakes, grammatical errors or inappropriate content on the web page.</a:t>
            </a:r>
            <a:endParaRPr lang="en-GB" sz="2800" dirty="0">
              <a:solidFill>
                <a:schemeClr val="bg1">
                  <a:lumMod val="76000"/>
                </a:schemeClr>
              </a:solidFill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232360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8BC6A-6FBA-970F-878D-5EA31141B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3B47-3B54-4526-25C3-E23BC4099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Website Launch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14A38-05E4-F563-2F3B-47E9103FB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GB" u="sng" dirty="0">
                <a:solidFill>
                  <a:schemeClr val="bg1"/>
                </a:solidFill>
              </a:rPr>
              <a:t>Pre-Launch Process </a:t>
            </a:r>
            <a:endParaRPr lang="en-US" u="sng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60FBF9-9702-66EB-14A0-9562BF7EE1DA}"/>
              </a:ext>
            </a:extLst>
          </p:cNvPr>
          <p:cNvSpPr txBox="1"/>
          <p:nvPr/>
        </p:nvSpPr>
        <p:spPr>
          <a:xfrm>
            <a:off x="103800" y="3135557"/>
            <a:ext cx="6021236" cy="23112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dirty="0">
                <a:solidFill>
                  <a:schemeClr val="bg1">
                    <a:lumMod val="75000"/>
                  </a:schemeClr>
                </a:solidFill>
              </a:rPr>
              <a:t>A final round of testing, this includes Functionality testing, Compatibility testing, Responsiveness testing, Accessibility reviews and testing.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DA495-C6AC-2B49-D6DF-6987EF7733AF}"/>
              </a:ext>
            </a:extLst>
          </p:cNvPr>
          <p:cNvSpPr txBox="1"/>
          <p:nvPr/>
        </p:nvSpPr>
        <p:spPr>
          <a:xfrm>
            <a:off x="6125036" y="3215470"/>
            <a:ext cx="5661803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b="1" u="sng" dirty="0">
                <a:solidFill>
                  <a:schemeClr val="bg1"/>
                </a:solidFill>
                <a:cs typeface="Segoe UI"/>
              </a:rPr>
              <a:t>A complete content review should be done on the website to verify there are no spelling mistakes, grammatical errors or inappropriate content on the web page.</a:t>
            </a:r>
          </a:p>
        </p:txBody>
      </p:sp>
    </p:spTree>
    <p:extLst>
      <p:ext uri="{BB962C8B-B14F-4D97-AF65-F5344CB8AC3E}">
        <p14:creationId xmlns:p14="http://schemas.microsoft.com/office/powerpoint/2010/main" val="2559751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DD643-798C-9BB4-CF23-F10FC6811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6C0A-4D23-3D27-4CA2-9DD5F0C6D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Website Launch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955A-7EF0-54FD-A949-7EA0BE795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GB" u="sng" dirty="0">
                <a:solidFill>
                  <a:schemeClr val="bg1"/>
                </a:solidFill>
              </a:rPr>
              <a:t>Post-Launch Support</a:t>
            </a:r>
            <a:endParaRPr lang="en-US" u="sng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6AACE8-7732-D34A-6AF1-E9E5465CB6C3}"/>
              </a:ext>
            </a:extLst>
          </p:cNvPr>
          <p:cNvSpPr txBox="1"/>
          <p:nvPr/>
        </p:nvSpPr>
        <p:spPr>
          <a:xfrm>
            <a:off x="83390" y="2852070"/>
            <a:ext cx="6021236" cy="27544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b="1" u="sng" dirty="0">
                <a:solidFill>
                  <a:schemeClr val="bg1"/>
                </a:solidFill>
              </a:rPr>
              <a:t>Technical troubleshooting involving assisting the client if any bugs, unexpected behaviour or website performance related issues are to occur.</a:t>
            </a:r>
            <a:endParaRPr lang="en-US" sz="3200" b="1" u="sng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34FD2E-13BE-A98B-8767-224F81A54DF6}"/>
              </a:ext>
            </a:extLst>
          </p:cNvPr>
          <p:cNvSpPr txBox="1"/>
          <p:nvPr/>
        </p:nvSpPr>
        <p:spPr>
          <a:xfrm>
            <a:off x="6104626" y="2999116"/>
            <a:ext cx="5661803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dirty="0">
                <a:solidFill>
                  <a:schemeClr val="bg1">
                    <a:lumMod val="76000"/>
                  </a:schemeClr>
                </a:solidFill>
                <a:cs typeface="Segoe UI"/>
              </a:rPr>
              <a:t>Content Updates, to the Devon Dive site. This would allow the site to stay dynamic and relevant for returning and future users.</a:t>
            </a:r>
          </a:p>
        </p:txBody>
      </p:sp>
    </p:spTree>
    <p:extLst>
      <p:ext uri="{BB962C8B-B14F-4D97-AF65-F5344CB8AC3E}">
        <p14:creationId xmlns:p14="http://schemas.microsoft.com/office/powerpoint/2010/main" val="1344780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B3C18-FC53-13EF-926C-75BEC437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0F48B-A83B-0DFB-C61B-640D608EF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GB" sz="2800" dirty="0">
                <a:solidFill>
                  <a:schemeClr val="bg1"/>
                </a:solidFill>
              </a:rPr>
              <a:t>Website Launch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37EF8-B4AD-5E42-5113-5044560C1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0879" y="1423059"/>
            <a:ext cx="8330241" cy="9439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GB" u="sng" dirty="0">
                <a:solidFill>
                  <a:schemeClr val="bg1"/>
                </a:solidFill>
              </a:rPr>
              <a:t>Post Launch Support</a:t>
            </a:r>
            <a:endParaRPr lang="en-US" u="sng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FD7B86-07AE-59B0-B7A6-CBE379A8C10A}"/>
              </a:ext>
            </a:extLst>
          </p:cNvPr>
          <p:cNvSpPr txBox="1"/>
          <p:nvPr/>
        </p:nvSpPr>
        <p:spPr>
          <a:xfrm>
            <a:off x="103800" y="3135557"/>
            <a:ext cx="6021236" cy="23112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GB" sz="3200" dirty="0">
                <a:solidFill>
                  <a:schemeClr val="bg1">
                    <a:lumMod val="75000"/>
                  </a:schemeClr>
                </a:solidFill>
              </a:rPr>
              <a:t>Technical troubleshooting involving assisting the client if any bugs, unexpected behaviour or website performance related issues are to occur.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CB775-2DB6-DA4B-8EFD-E4A542C47DBF}"/>
              </a:ext>
            </a:extLst>
          </p:cNvPr>
          <p:cNvSpPr txBox="1"/>
          <p:nvPr/>
        </p:nvSpPr>
        <p:spPr>
          <a:xfrm>
            <a:off x="6125036" y="3215470"/>
            <a:ext cx="5661803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800" b="1" u="sng" dirty="0">
                <a:solidFill>
                  <a:schemeClr val="bg1"/>
                </a:solidFill>
                <a:cs typeface="Segoe UI"/>
              </a:rPr>
              <a:t>Content Updates, to the Devon Dive site. This would allow the site to stay dynamic and relevant for returning and future users.</a:t>
            </a:r>
          </a:p>
        </p:txBody>
      </p:sp>
    </p:spTree>
    <p:extLst>
      <p:ext uri="{BB962C8B-B14F-4D97-AF65-F5344CB8AC3E}">
        <p14:creationId xmlns:p14="http://schemas.microsoft.com/office/powerpoint/2010/main" val="1566269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</TotalTime>
  <Words>513</Words>
  <Application>Microsoft Office PowerPoint</Application>
  <PresentationFormat>Widescreen</PresentationFormat>
  <Paragraphs>49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</vt:lpstr>
      <vt:lpstr>office theme</vt:lpstr>
      <vt:lpstr>Devon Dive Adventures</vt:lpstr>
      <vt:lpstr>Requirements</vt:lpstr>
      <vt:lpstr>Requirements</vt:lpstr>
      <vt:lpstr>Requirements</vt:lpstr>
      <vt:lpstr>Accessibility</vt:lpstr>
      <vt:lpstr>Accessibility</vt:lpstr>
      <vt:lpstr>Accessibility</vt:lpstr>
      <vt:lpstr>Accessibility</vt:lpstr>
      <vt:lpstr>Website Launch</vt:lpstr>
      <vt:lpstr>Website Launch</vt:lpstr>
      <vt:lpstr>Website Launch</vt:lpstr>
      <vt:lpstr>Website Launch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Harry Waddington (Student)</cp:lastModifiedBy>
  <cp:revision>95</cp:revision>
  <dcterms:created xsi:type="dcterms:W3CDTF">2025-04-26T17:57:08Z</dcterms:created>
  <dcterms:modified xsi:type="dcterms:W3CDTF">2025-04-28T02:13:40Z</dcterms:modified>
</cp:coreProperties>
</file>